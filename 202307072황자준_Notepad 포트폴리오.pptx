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90" r:id="rId1"/>
  </p:sldMasterIdLst>
  <p:sldIdLst>
    <p:sldId id="256" r:id="rId2"/>
    <p:sldId id="257" r:id="rId3"/>
    <p:sldId id="258" r:id="rId4"/>
    <p:sldId id="260" r:id="rId5"/>
    <p:sldId id="261" r:id="rId6"/>
    <p:sldId id="267" r:id="rId7"/>
    <p:sldId id="265" r:id="rId8"/>
    <p:sldId id="269" r:id="rId9"/>
    <p:sldId id="271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10" y="9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-12699" y="3631"/>
            <a:ext cx="1247479" cy="4425873"/>
          </a:xfrm>
          <a:custGeom>
            <a:avLst/>
            <a:gd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 flipH="1">
            <a:off x="7307082" y="211889"/>
            <a:ext cx="4883131" cy="1609272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 flipH="1">
            <a:off x="1176" y="0"/>
            <a:ext cx="12196229" cy="120981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0" y="313097"/>
            <a:ext cx="7315199" cy="2039450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"/>
          <p:cNvSpPr/>
          <p:nvPr/>
        </p:nvSpPr>
        <p:spPr>
          <a:xfrm rot="16200000" flipH="1">
            <a:off x="-469153" y="661849"/>
            <a:ext cx="2747768" cy="1432205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 rot="16200000" flipH="1">
            <a:off x="-2892959" y="2893114"/>
            <a:ext cx="6862892" cy="1076695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 rot="16200000">
            <a:off x="-839161" y="3864994"/>
            <a:ext cx="4116307" cy="1880869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"/>
          <p:cNvSpPr/>
          <p:nvPr/>
        </p:nvSpPr>
        <p:spPr>
          <a:xfrm rot="16200000">
            <a:off x="1234747" y="5050782"/>
            <a:ext cx="895421" cy="2731035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6" name=""/>
          <p:cNvSpPr/>
          <p:nvPr/>
        </p:nvSpPr>
        <p:spPr>
          <a:xfrm>
            <a:off x="164250" y="-27432"/>
            <a:ext cx="2883726" cy="6885432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2270586" y="2919309"/>
            <a:ext cx="9635703" cy="957706"/>
          </a:xfrm>
        </p:spPr>
        <p:txBody>
          <a:bodyPr>
            <a:noAutofit/>
          </a:bodyPr>
          <a:lstStyle>
            <a:lvl1pPr algn="l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2270586" y="3890286"/>
            <a:ext cx="9631127" cy="467408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2A27DF-FC33-4C05-96AC-ECA7B11A9C6B}" type="datetime1">
              <a:rPr lang="ko-KR" altLang="en-US"/>
              <a:pPr lvl="0">
                <a:defRPr lang="ko-KR" altLang="en-US"/>
              </a:pPr>
              <a:t>2025-11-04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EA2121F7-E20F-43B2-B3C6-C7E51EA698C5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DAC1609-63DC-4238-90D7-BDA4CCE7E5D2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8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761962" y="2357419"/>
            <a:ext cx="10363199" cy="928705"/>
          </a:xfrm>
        </p:spPr>
        <p:txBody>
          <a:bodyPr anchor="t"/>
          <a:lstStyle>
            <a:lvl1pPr algn="l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761962" y="1807030"/>
            <a:ext cx="10363199" cy="550390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1794FCA-B30B-4B0B-A06E-872BCCC939B8}" type="datetime1">
              <a:rPr lang="ko-KR" altLang="en-US"/>
              <a:pPr lvl="0">
                <a:defRPr lang="ko-KR" altLang="en-US"/>
              </a:pPr>
              <a:t>2025-11-04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2B4FBC9-0152-4321-B5AE-8A4D40C68623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5271060-A817-4E00-9021-886881503EBB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47ABBE4F-A180-451B-976B-207E95DDA7FB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F0DB8ECF-E18C-4D8D-A7A0-FA2FABCA5290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5400000">
            <a:off x="-3300803" y="3300663"/>
            <a:ext cx="6887028" cy="2857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21" name=""/>
          <p:cNvGrpSpPr/>
          <p:nvPr/>
        </p:nvGrpSpPr>
        <p:grpSpPr>
          <a:xfrm rot="0" flipH="1">
            <a:off x="-2" y="0"/>
            <a:ext cx="12192001" cy="6858001"/>
            <a:chOff x="-1" y="0"/>
            <a:chExt cx="9144001" cy="6858001"/>
          </a:xfrm>
        </p:grpSpPr>
        <p:sp>
          <p:nvSpPr>
            <p:cNvPr id="2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C9FE912-2C94-4152-970B-97CA7CEA7709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7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673355"/>
            <a:ext cx="11531599" cy="1470025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10BF683E-EC8C-4F1E-8017-25E57E2CE77B}" type="datetime1">
              <a:rPr lang="ko-KR" altLang="en-US"/>
              <a:pPr lvl="0">
                <a:defRPr lang="ko-KR" altLang="en-US"/>
              </a:pPr>
              <a:t>2025-11-04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8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542695" y="1121212"/>
            <a:ext cx="783771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body" sz="quarter" idx="14"/>
          </p:nvPr>
        </p:nvSpPr>
        <p:spPr>
          <a:xfrm>
            <a:off x="2542710" y="2286007"/>
            <a:ext cx="7839569" cy="342900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FDD8E82-9EDF-4A21-8052-950E349A4E6B}" type="datetime1">
              <a:rPr lang="ko-KR" altLang="en-US"/>
              <a:pPr lvl="0">
                <a:defRPr lang="ko-KR" altLang="en-US"/>
              </a:pPr>
              <a:t>2025-11-04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10800000" flipH="1">
            <a:off x="10430936" y="4214817"/>
            <a:ext cx="1780898" cy="2672210"/>
            <a:chOff x="7830097" y="-3175"/>
            <a:chExt cx="1335674" cy="3646465"/>
          </a:xfrm>
        </p:grpSpPr>
        <p:sp>
          <p:nvSpPr>
            <p:cNvPr id="8" name="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6753771-9475-4309-9B2C-4F43EB0294C6}" type="datetime1">
              <a:rPr lang="ko-KR" altLang="en-US"/>
              <a:pPr lvl="0">
                <a:defRPr lang="ko-KR" altLang="en-US"/>
              </a:pPr>
              <a:t>2025-11-04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34E7F02C-23CF-43D2-B6EA-0D50607FE9E1}" type="datetime1">
              <a:rPr lang="ko-KR" altLang="en-US"/>
              <a:pPr lvl="0">
                <a:defRPr/>
              </a:pPr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6FBAA2E-A3BD-430D-846C-E06021F7862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1"/>
            <a:ext cx="10813143" cy="45259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9" name="Title 18"/>
          <p:cNvSpPr>
            <a:spLocks noGrp="1"/>
          </p:cNvSpPr>
          <p:nvPr>
            <p:ph type="title" idx="0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600199"/>
            <a:ext cx="5145024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8464" y="1600199"/>
            <a:ext cx="5145024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34E7F02C-23CF-43D2-B6EA-0D50607FE9E1}" type="datetime1">
              <a:rPr lang="ko-KR" altLang="en-US"/>
              <a:pPr lvl="0">
                <a:defRPr/>
              </a:pPr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6FBAA2E-A3BD-430D-846C-E06021F7862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5" name="Title 14"/>
          <p:cNvSpPr>
            <a:spLocks noGrp="1"/>
          </p:cNvSpPr>
          <p:nvPr>
            <p:ph type="title" idx="0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024" y="1535113"/>
            <a:ext cx="5242560" cy="639762"/>
          </a:xfrm>
          <a:solidFill>
            <a:srgbClr val="77933c">
              <a:alpha val="20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4" y="2267712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6416" y="1535113"/>
            <a:ext cx="5242560" cy="639762"/>
          </a:xfrm>
          <a:solidFill>
            <a:srgbClr val="e46c0a">
              <a:alpha val="20000"/>
            </a:srgb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416" y="2267712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34E7F02C-23CF-43D2-B6EA-0D50607FE9E1}" type="datetime1">
              <a:rPr lang="ko-KR" altLang="en-US"/>
              <a:pPr lvl="0">
                <a:defRPr/>
              </a:pPr>
              <a:t>2025-11-04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6FBAA2E-A3BD-430D-846C-E06021F7862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8" name="Title 17"/>
          <p:cNvSpPr>
            <a:spLocks noGrp="1"/>
          </p:cNvSpPr>
          <p:nvPr>
            <p:ph type="title" idx="0"/>
          </p:nvPr>
        </p:nvSpPr>
        <p:spPr>
          <a:xfrm>
            <a:off x="1426464" y="146304"/>
            <a:ext cx="9241536" cy="996696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34E7F02C-23CF-43D2-B6EA-0D50607FE9E1}" type="datetime1">
              <a:rPr lang="ko-KR" altLang="en-US"/>
              <a:pPr lvl="0">
                <a:defRPr/>
              </a:pPr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6FBAA2E-A3BD-430D-846C-E06021F7862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5" name="Vertical Text Placeholder 14"/>
          <p:cNvSpPr>
            <a:spLocks noGrp="1"/>
          </p:cNvSpPr>
          <p:nvPr>
            <p:ph type="body" orient="vert" sz="quarter" idx="13"/>
          </p:nvPr>
        </p:nvSpPr>
        <p:spPr>
          <a:xfrm>
            <a:off x="609600" y="1719072"/>
            <a:ext cx="10972800" cy="4526280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 idx="0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세로 제목 및 텍스트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idx="0"/>
          </p:nvPr>
        </p:nvSpPr>
        <p:spPr bwMode="gray">
          <a:xfrm>
            <a:off x="9339072" y="429768"/>
            <a:ext cx="1999488" cy="582472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lvl="0">
              <a:defRPr/>
            </a:pPr>
            <a:fld id="{34E7F02C-23CF-43D2-B6EA-0D50607FE9E1}" type="datetime1">
              <a:rPr lang="ko-KR" altLang="en-US"/>
              <a:pPr lvl="0">
                <a:defRPr/>
              </a:pPr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 lvl="0">
              <a:defRPr/>
            </a:pPr>
            <a:fld id="{86FBAA2E-A3BD-430D-846C-E06021F7862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4" name="Vertical Text Placeholder 13"/>
          <p:cNvSpPr>
            <a:spLocks noGrp="1"/>
          </p:cNvSpPr>
          <p:nvPr>
            <p:ph type="body" orient="vert" sz="quarter" idx="13"/>
          </p:nvPr>
        </p:nvSpPr>
        <p:spPr bwMode="gray">
          <a:xfrm>
            <a:off x="609600" y="429768"/>
            <a:ext cx="8534400" cy="582472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slideLayout" Target="../slideLayouts/slideLayout17.xml"  /><Relationship Id="rId18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732842" y="3147876"/>
            <a:ext cx="6308395" cy="3037101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10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10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  <a:p>
            <a:pPr lvl="8">
              <a:defRPr lang="ko-KR" altLang="en-US"/>
            </a:pPr>
            <a:endParaRPr lang="en-US" altLang="ko-KR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FD839B8E-F55D-4BF8-852C-25AF74D46B3E}" type="datetime1">
              <a:rPr lang="ko-KR" altLang="en-US"/>
              <a:pPr lvl="0">
                <a:defRPr lang="ko-KR" altLang="en-US"/>
              </a:pPr>
              <a:t>2025-11-04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058334" y="284164"/>
            <a:ext cx="9144000" cy="13160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200"/>
              <a:t>C#</a:t>
            </a:r>
            <a:r>
              <a:rPr lang="ko-KR" altLang="en-US" sz="3200"/>
              <a:t>을 활용한 </a:t>
            </a:r>
            <a:br>
              <a:rPr lang="en-US" altLang="ko-KR" sz="3200"/>
            </a:br>
            <a:r>
              <a:rPr lang="ko-KR" altLang="en-US" sz="3200" b="1"/>
              <a:t>메모장 구현 프로젝트</a:t>
            </a:r>
            <a:endParaRPr lang="ko-KR" altLang="en-US" sz="3200" b="1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799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이름 </a:t>
            </a:r>
            <a:r>
              <a:rPr lang="en-US" altLang="ko-KR"/>
              <a:t>: </a:t>
            </a:r>
            <a:r>
              <a:rPr lang="ko-KR" altLang="en-US"/>
              <a:t>황자준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학번 </a:t>
            </a:r>
            <a:r>
              <a:rPr lang="en-US" altLang="ko-KR"/>
              <a:t>: 202307072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학과</a:t>
            </a:r>
            <a:r>
              <a:rPr lang="en-US" altLang="ko-KR"/>
              <a:t>: </a:t>
            </a:r>
            <a:r>
              <a:rPr lang="ko-KR" altLang="en-US"/>
              <a:t>컴퓨터소프트웨어전공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400"/>
              <a:t>프로젝트명</a:t>
            </a:r>
            <a:r>
              <a:rPr lang="en-US" altLang="ko-KR" sz="2400"/>
              <a:t>: </a:t>
            </a:r>
            <a:r>
              <a:rPr lang="ko-KR" altLang="en-US" sz="2400"/>
              <a:t>Notepad</a:t>
            </a:r>
            <a:endParaRPr lang="ko-KR" altLang="en-US" sz="2400"/>
          </a:p>
          <a:p>
            <a:pPr lvl="0">
              <a:defRPr/>
            </a:pPr>
            <a:r>
              <a:rPr lang="ko-KR" altLang="en-US" sz="2400"/>
              <a:t>팀명</a:t>
            </a:r>
            <a:r>
              <a:rPr lang="en-US" altLang="ko-KR" sz="2400"/>
              <a:t>: HJJ	</a:t>
            </a:r>
            <a:endParaRPr lang="en-US" altLang="ko-KR" sz="2400"/>
          </a:p>
          <a:p>
            <a:pPr lvl="0">
              <a:defRPr/>
            </a:pPr>
            <a:r>
              <a:rPr lang="ko-KR" altLang="en-US" sz="2400"/>
              <a:t>팀원</a:t>
            </a:r>
            <a:r>
              <a:rPr lang="en-US" altLang="ko-KR" sz="2400"/>
              <a:t>: </a:t>
            </a:r>
            <a:r>
              <a:rPr lang="ko-KR" altLang="en-US" sz="2400"/>
              <a:t>황자준</a:t>
            </a:r>
            <a:endParaRPr lang="ko-KR" altLang="en-US" sz="2400"/>
          </a:p>
          <a:p>
            <a:pPr lvl="0">
              <a:defRPr/>
            </a:pPr>
            <a:r>
              <a:rPr lang="ko-KR" altLang="en-US" sz="2400"/>
              <a:t>플랫폼</a:t>
            </a:r>
            <a:r>
              <a:rPr lang="en-US" altLang="ko-KR" sz="2400"/>
              <a:t>: PC</a:t>
            </a:r>
            <a:endParaRPr lang="en-US" altLang="ko-KR" sz="2400"/>
          </a:p>
          <a:p>
            <a:pPr lvl="0">
              <a:defRPr/>
            </a:pPr>
            <a:r>
              <a:rPr lang="ko-KR" altLang="en-US" sz="2400"/>
              <a:t>사용 툴</a:t>
            </a:r>
            <a:r>
              <a:rPr lang="en-US" altLang="ko-KR" sz="2400"/>
              <a:t>(</a:t>
            </a:r>
            <a:r>
              <a:rPr lang="ko-KR" altLang="en-US" sz="2400"/>
              <a:t>기술</a:t>
            </a:r>
            <a:r>
              <a:rPr lang="en-US" altLang="ko-KR" sz="2400"/>
              <a:t>): Visual Studio 2022, .NET FrameWork/WinForms</a:t>
            </a:r>
            <a:endParaRPr lang="en-US" altLang="ko-KR" sz="2400"/>
          </a:p>
          <a:p>
            <a:pPr lvl="0">
              <a:defRPr/>
            </a:pPr>
            <a:r>
              <a:rPr lang="ko-KR" altLang="en-US" sz="2400"/>
              <a:t>한 줄 소개</a:t>
            </a:r>
            <a:r>
              <a:rPr lang="en-US" altLang="ko-KR" sz="2400"/>
              <a:t>: </a:t>
            </a:r>
            <a:r>
              <a:rPr lang="ko-KR" altLang="en-US" sz="2400"/>
              <a:t>텍스트를 입력·편집하고 저장·불러오기 및 찾기 기능을 제공하는 Windows 메모장 형태의 텍스트 편집 프로그램</a:t>
            </a:r>
            <a:endParaRPr lang="ko-KR" altLang="en-US" sz="2400"/>
          </a:p>
          <a:p>
            <a:pPr lvl="0">
              <a:defRPr/>
            </a:pPr>
            <a:r>
              <a:rPr lang="ko-KR" altLang="en-US" sz="2400"/>
              <a:t>목표</a:t>
            </a:r>
            <a:r>
              <a:rPr lang="en-US" altLang="ko-KR" sz="2400"/>
              <a:t>: </a:t>
            </a:r>
            <a:r>
              <a:rPr lang="ko-KR" altLang="en-US" sz="2400"/>
              <a:t>Windows 메모장의 기본 구조를 직접 구현하며 파일 입출력(StreamReader/StreamWriter), UI 이벤트 처리, 다중 폼(Form2) 연동, 문자열 검색 로직(IndexOf/LastIndexOf) 적용, 폰트·줄바꿈 등 편집 기능 구현을 이해한다.</a:t>
            </a:r>
            <a:endParaRPr lang="ko-KR" altLang="en-US" sz="2400"/>
          </a:p>
          <a:p>
            <a:pPr lvl="0">
              <a:defRPr/>
            </a:pPr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개요</a:t>
            </a:r>
            <a:r>
              <a:rPr lang="en-US" altLang="ko-KR"/>
              <a:t>	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/>
              <a:t>메모장 (Notepad)</a:t>
            </a:r>
            <a:endParaRPr lang="ko-KR" altLang="en-US" sz="2000"/>
          </a:p>
          <a:p>
            <a:pPr lvl="1">
              <a:defRPr/>
            </a:pPr>
            <a:r>
              <a:rPr lang="ko-KR" altLang="en-US" sz="1600"/>
              <a:t>정의</a:t>
            </a:r>
            <a:r>
              <a:rPr lang="en-US" altLang="ko-KR" sz="1600"/>
              <a:t>:</a:t>
            </a:r>
            <a:endParaRPr lang="en-US" altLang="ko-KR" sz="1600"/>
          </a:p>
          <a:p>
            <a:pPr lvl="2">
              <a:defRPr/>
            </a:pPr>
            <a:r>
              <a:rPr lang="ko-KR" altLang="en-US" sz="1200"/>
              <a:t>텍스트를 입력·편집하고 파일로 저장하거나 기존 파일을 불러와 수정할 수 있는 기본 텍스트 편집 프로그램</a:t>
            </a:r>
            <a:endParaRPr lang="ko-KR" altLang="en-US" sz="1200"/>
          </a:p>
          <a:p>
            <a:pPr lvl="2">
              <a:defRPr/>
            </a:pPr>
            <a:r>
              <a:rPr lang="ko-KR" altLang="en-US" sz="1100"/>
              <a:t>StreamReader, StreamWriter 클래스를 활용하여 텍스트 파일을 읽고 쓰는 기능을 제공</a:t>
            </a:r>
            <a:endParaRPr lang="ko-KR" altLang="en-US" sz="1100"/>
          </a:p>
          <a:p>
            <a:pPr lvl="2">
              <a:defRPr/>
            </a:pPr>
            <a:r>
              <a:rPr lang="ko-KR" altLang="en-US" sz="1100"/>
              <a:t>Windows 기본 메모장 구조를 토대로 새로 만들기 / 열기 / 저장 / 찾기 / 다른 이름으로 저장 / 편집 기능 등을 UI에 실시간 반영하는 형태</a:t>
            </a:r>
            <a:endParaRPr lang="ko-KR" altLang="en-US" sz="1100"/>
          </a:p>
          <a:p>
            <a:pPr lvl="2">
              <a:defRPr/>
            </a:pPr>
            <a:endParaRPr lang="en-US" altLang="ko-KR" sz="1200"/>
          </a:p>
          <a:p>
            <a:pPr lvl="1">
              <a:defRPr/>
            </a:pPr>
            <a:r>
              <a:rPr lang="ko-KR" altLang="en-US" sz="1600"/>
              <a:t>사용 예</a:t>
            </a:r>
            <a:r>
              <a:rPr lang="en-US" altLang="ko-KR" sz="1600"/>
              <a:t>: </a:t>
            </a:r>
            <a:endParaRPr lang="en-US" altLang="ko-KR" sz="1600"/>
          </a:p>
          <a:p>
            <a:pPr lvl="2">
              <a:defRPr/>
            </a:pPr>
            <a:r>
              <a:rPr lang="ko-KR" altLang="en-US" sz="1200"/>
              <a:t>간단한 문서 작성 및 메모 작성</a:t>
            </a:r>
            <a:endParaRPr lang="ko-KR" altLang="en-US" sz="1200"/>
          </a:p>
          <a:p>
            <a:pPr lvl="2">
              <a:defRPr/>
            </a:pPr>
            <a:r>
              <a:rPr lang="ko-KR" altLang="en-US" sz="1200"/>
              <a:t>텍스트 기반 로그 파일 뷰어 또는 간단한 정보 기록용 도구</a:t>
            </a:r>
            <a:endParaRPr lang="ko-KR" altLang="en-US" sz="1200"/>
          </a:p>
          <a:p>
            <a:pPr lvl="2">
              <a:defRPr/>
            </a:pPr>
            <a:r>
              <a:rPr lang="ko-KR" altLang="en-US" sz="1200"/>
              <a:t>코드 및 문서의 빠른 수정 작업</a:t>
            </a:r>
            <a:endParaRPr lang="ko-KR" altLang="en-US" sz="1200"/>
          </a:p>
          <a:p>
            <a:pPr lvl="2">
              <a:defRPr/>
            </a:pPr>
            <a:r>
              <a:rPr lang="ko-KR" altLang="en-US" sz="1200"/>
              <a:t>문자열 검색 기능을 통한 특정 단어/문구 탐색</a:t>
            </a:r>
            <a:endParaRPr lang="ko-KR" altLang="en-US" sz="1200"/>
          </a:p>
          <a:p>
            <a:pPr lvl="2">
              <a:defRPr/>
            </a:pPr>
            <a:endParaRPr lang="en-US" altLang="ko-KR" sz="1200"/>
          </a:p>
          <a:p>
            <a:pPr lvl="1">
              <a:defRPr/>
            </a:pPr>
            <a:r>
              <a:rPr lang="ko-KR" altLang="en-US" sz="1600"/>
              <a:t>코드 특징</a:t>
            </a:r>
            <a:r>
              <a:rPr lang="en-US" altLang="ko-KR" sz="1600"/>
              <a:t>:</a:t>
            </a:r>
            <a:endParaRPr lang="en-US" altLang="ko-KR" sz="1600"/>
          </a:p>
          <a:p>
            <a:pPr lvl="2">
              <a:defRPr/>
            </a:pPr>
            <a:r>
              <a:rPr lang="en-US" altLang="ko-KR" sz="1200" b="1"/>
              <a:t>StreamReader / StreamWriter를 사용하여 텍스트 파일 읽기·쓰기 구현</a:t>
            </a:r>
            <a:endParaRPr lang="en-US" altLang="ko-KR" sz="1200" b="1"/>
          </a:p>
          <a:p>
            <a:pPr lvl="2">
              <a:defRPr/>
            </a:pPr>
            <a:r>
              <a:rPr lang="en-US" altLang="ko-KR" sz="1200" b="1"/>
              <a:t>파일 저장 여부 판단 및 새 문서/열기/종료 시 사용자에게 저장 여부 안내</a:t>
            </a:r>
            <a:endParaRPr lang="en-US" altLang="ko-KR" sz="1200" b="1"/>
          </a:p>
          <a:p>
            <a:pPr lvl="2">
              <a:defRPr/>
            </a:pPr>
            <a:r>
              <a:rPr lang="en-US" altLang="ko-KR" sz="1200" b="1"/>
              <a:t>Internal 접근 제한자를 사용하여 문자열 검색 기능(Form1 → Form2) 연결</a:t>
            </a:r>
            <a:endParaRPr lang="en-US" altLang="ko-KR" sz="1200" b="1"/>
          </a:p>
          <a:p>
            <a:pPr lvl="2">
              <a:defRPr/>
            </a:pPr>
            <a:r>
              <a:rPr lang="en-US" altLang="ko-KR" sz="1200" b="1"/>
              <a:t>IndexOf, LastIndexOf로 방향(위/아래) 기반 검색</a:t>
            </a:r>
            <a:endParaRPr lang="en-US" altLang="ko-KR" sz="1200" b="1"/>
          </a:p>
          <a:p>
            <a:pPr lvl="2">
              <a:defRPr/>
            </a:pPr>
            <a:r>
              <a:rPr lang="en-US" altLang="ko-KR" sz="1200" b="1"/>
              <a:t>FormClosing 이벤트에서 변경 내용 저장 여부 확인</a:t>
            </a:r>
            <a:endParaRPr lang="en-US" altLang="ko-KR" sz="1200" b="1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기본 개념 정리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사용한 기술</a:t>
            </a:r>
            <a:r>
              <a:rPr lang="en-US" altLang="ko-KR"/>
              <a:t>(</a:t>
            </a:r>
            <a:r>
              <a:rPr lang="ko-KR" altLang="en-US"/>
              <a:t>도구</a:t>
            </a:r>
            <a:r>
              <a:rPr lang="en-US" altLang="ko-KR"/>
              <a:t>)</a:t>
            </a:r>
            <a:endParaRPr lang="en-US" altLang="ko-KR"/>
          </a:p>
          <a:p>
            <a:pPr lvl="1">
              <a:defRPr/>
            </a:pPr>
            <a:r>
              <a:rPr lang="en-US" altLang="ko-KR" sz="1800"/>
              <a:t>C#: </a:t>
            </a:r>
            <a:r>
              <a:rPr lang="ko-KR" altLang="en-US" sz="1800"/>
              <a:t>프로젝트의 핵심 기능인 텍스트 편집, 파일 저장/불러오기, 문자열 검색 로직 구현에 사용</a:t>
            </a:r>
            <a:endParaRPr lang="ko-KR" altLang="en-US" sz="1800"/>
          </a:p>
          <a:p>
            <a:pPr lvl="1">
              <a:defRPr/>
            </a:pPr>
            <a:endParaRPr lang="en-US" altLang="ko-KR" sz="1800"/>
          </a:p>
          <a:p>
            <a:pPr lvl="1">
              <a:defRPr/>
            </a:pPr>
            <a:r>
              <a:rPr lang="en-US" altLang="ko-KR" sz="1800"/>
              <a:t>Windows Forms: UI</a:t>
            </a:r>
            <a:r>
              <a:rPr lang="ko-KR" altLang="en-US" sz="1800"/>
              <a:t>를 디자인하고 폼과 컨트롤을 구현하는 데 사용된 라이브러리</a:t>
            </a:r>
            <a:endParaRPr lang="ko-KR" altLang="en-US" sz="1800"/>
          </a:p>
          <a:p>
            <a:pPr lvl="1">
              <a:defRPr/>
            </a:pPr>
            <a:endParaRPr lang="en-US" altLang="ko-KR" sz="1800"/>
          </a:p>
          <a:p>
            <a:pPr lvl="1">
              <a:defRPr/>
            </a:pPr>
            <a:r>
              <a:rPr lang="en-US" altLang="ko-KR" sz="1800"/>
              <a:t>StreamReader / StreamWriter</a:t>
            </a:r>
            <a:r>
              <a:rPr lang="ko-KR" altLang="en-US" sz="1800"/>
              <a:t> </a:t>
            </a:r>
            <a:r>
              <a:rPr lang="en-US" altLang="ko-KR" sz="1800"/>
              <a:t>:</a:t>
            </a:r>
            <a:endParaRPr lang="en-US" altLang="ko-KR" sz="1800"/>
          </a:p>
          <a:p>
            <a:pPr lvl="2">
              <a:defRPr/>
            </a:pPr>
            <a:r>
              <a:rPr lang="en-US" altLang="ko-KR" sz="1800"/>
              <a:t>텍스트 파일 입출력을 처리하는 핵심 클래스</a:t>
            </a:r>
            <a:endParaRPr lang="en-US" altLang="ko-KR" sz="1800"/>
          </a:p>
          <a:p>
            <a:pPr lvl="2">
              <a:defRPr/>
            </a:pPr>
            <a:r>
              <a:rPr lang="en-US" altLang="ko-KR" sz="1800"/>
              <a:t>ReadToEnd()를 사용해 전체 파일 내용 읽기</a:t>
            </a:r>
            <a:endParaRPr lang="en-US" altLang="ko-KR" sz="1800"/>
          </a:p>
          <a:p>
            <a:pPr lvl="2">
              <a:defRPr/>
            </a:pPr>
            <a:r>
              <a:rPr lang="en-US" altLang="ko-KR" sz="1800"/>
              <a:t>저장 시 Encoding.Default를 사용해 일반 텍스트(.txt) 저장</a:t>
            </a:r>
            <a:endParaRPr lang="en-US" altLang="ko-KR" sz="1800"/>
          </a:p>
          <a:p>
            <a:pPr lvl="2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기능 설계</a:t>
            </a:r>
            <a:r>
              <a:rPr lang="en-US" altLang="ko-KR"/>
              <a:t>, </a:t>
            </a:r>
            <a:r>
              <a:rPr lang="ko-KR" altLang="en-US"/>
              <a:t>콘텐츠 구성 및 개발 기술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기본 기능</a:t>
            </a:r>
            <a:r>
              <a:rPr lang="en-US" altLang="ko-KR"/>
              <a:t>: </a:t>
            </a:r>
            <a:r>
              <a:rPr lang="ko-KR" altLang="en-US" sz="2000"/>
              <a:t>사용자가 텍스트를 입력하고 편집할 수 있으며, 메모장 기본 기능을 구현한다:</a:t>
            </a:r>
            <a:endParaRPr lang="ko-KR" altLang="en-US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ko-KR" altLang="en-US"/>
              <a:t>폼 디자인 및 속성</a:t>
            </a:r>
            <a:r>
              <a:rPr lang="en-US" altLang="ko-KR"/>
              <a:t>: </a:t>
            </a:r>
            <a:endParaRPr lang="en-US" altLang="ko-KR"/>
          </a:p>
          <a:p>
            <a:pPr lvl="0">
              <a:defRPr/>
            </a:pPr>
            <a:endParaRPr lang="en-US" altLang="ko-KR" sz="2000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요구 사항</a:t>
            </a:r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1885" y="3120571"/>
            <a:ext cx="5531757" cy="339862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2425236"/>
            <a:ext cx="5224508" cy="412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952747" cy="469529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ko-KR" altLang="en-US"/>
              <a:t>구현 세부사항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 sz="1900"/>
              <a:t> </a:t>
            </a:r>
            <a:r>
              <a:rPr lang="en-US" altLang="ko-KR" sz="1900" b="1"/>
              <a:t>Form1 (</a:t>
            </a:r>
            <a:r>
              <a:rPr lang="ko-KR" altLang="en-US" sz="1900" b="1"/>
              <a:t>메인 폼</a:t>
            </a:r>
            <a:r>
              <a:rPr lang="en-US" altLang="ko-KR" sz="1900" b="1"/>
              <a:t>)</a:t>
            </a:r>
            <a:endParaRPr lang="en-US" altLang="ko-KR" sz="1900" b="1"/>
          </a:p>
          <a:p>
            <a:pPr lvl="1">
              <a:defRPr/>
            </a:pPr>
            <a:r>
              <a:rPr lang="ko-KR" altLang="en-US" sz="1900"/>
              <a:t>메모장 기본 UI로 구성되며, 텍스트 입력을 위한 멀티라인 TextBox(txtNote) 사용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메뉴바(MenuStrip)를 통해 새로 만들기, 열기, 저장, 다른 이름으로 저장, 찾기, 편집 기능 제공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파일 저장 시 SaveFileDialog, 파일 열기 시 OpenFileDialog를 사용하여 경로 선택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텍스트 입력 변경 여부를 확인하기 위해 변수(txtNoteChange)를 두어 저장 필요 여부 판단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“찾기” 기능 실행 시 Form2를 생성하여 검색어 입력 및 옵션(대/소문자 구분, 방향 선택) 연동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문자열 검색 시 IndexOf, LastIndexOf를 이용하여 현재 커서 위치 기준으로 상/하 검색 수행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Select()를 사용해 찾은 문자열을 하이라이트하고 커서를 해당 위치로 이동</a:t>
            </a:r>
            <a:endParaRPr lang="ko-KR" altLang="en-US" sz="1900"/>
          </a:p>
          <a:p>
            <a:pPr lvl="1">
              <a:defRPr/>
            </a:pPr>
            <a:r>
              <a:rPr lang="ko-KR" altLang="en-US" sz="1900"/>
              <a:t>Form 종료 시 저장되지 않은 내용이 있으면 메시지를 띄워 저장 여부를 확인하도록 구현</a:t>
            </a:r>
            <a:endParaRPr lang="ko-KR" altLang="en-US" sz="1900"/>
          </a:p>
          <a:p>
            <a:pPr marL="0" lvl="0" indent="0">
              <a:buNone/>
              <a:defRPr/>
            </a:pPr>
            <a:endParaRPr lang="en-US" altLang="ko-KR" sz="1900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요구 사항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구현 코드 </a:t>
            </a:r>
            <a:r>
              <a:rPr lang="en-US" altLang="ko-KR"/>
              <a:t>1</a:t>
            </a:r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9166" y="1135050"/>
            <a:ext cx="5061870" cy="553244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03510" y="1119403"/>
            <a:ext cx="5752756" cy="5544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구현 코드 </a:t>
            </a:r>
            <a:r>
              <a:rPr lang="en-US" altLang="ko-KR"/>
              <a:t>2</a:t>
            </a: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6225" y="1288142"/>
            <a:ext cx="4958928" cy="496412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78073" y="1227619"/>
            <a:ext cx="5104776" cy="5136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구현 코드 </a:t>
            </a:r>
            <a:r>
              <a:rPr lang="en-US" altLang="ko-KR"/>
              <a:t>3</a:t>
            </a:r>
            <a:endParaRPr lang="en-US" altLang="ko-KR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4436" y="1328966"/>
            <a:ext cx="3605001" cy="477157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22220" y="1361890"/>
            <a:ext cx="4051869" cy="473656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1385" y="1351644"/>
            <a:ext cx="3885496" cy="4753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38417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실행화면 캡쳐</a:t>
            </a:r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32961" y="1509390"/>
            <a:ext cx="7735379" cy="460121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09527" y="3724144"/>
            <a:ext cx="6944694" cy="1867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4934" y="1943630"/>
            <a:ext cx="10515600" cy="5287516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/>
              <a:t>프로젝트 결과</a:t>
            </a:r>
            <a:r>
              <a:rPr lang="en-US" altLang="ko-KR"/>
              <a:t>	</a:t>
            </a:r>
            <a:endParaRPr lang="en-US" altLang="ko-KR"/>
          </a:p>
          <a:p>
            <a:pPr lvl="1">
              <a:defRPr/>
            </a:pPr>
            <a:r>
              <a:rPr lang="ko-KR" altLang="en-US" sz="1600"/>
              <a:t>텍스트 입력, 편집, 저장, 열기 등 메모장의 핵심 기능을 정상적으로 구현</a:t>
            </a:r>
            <a:endParaRPr lang="ko-KR" altLang="en-US" sz="1600"/>
          </a:p>
          <a:p>
            <a:pPr lvl="1">
              <a:defRPr/>
            </a:pPr>
            <a:r>
              <a:rPr lang="ko-KR" altLang="en-US" sz="1600"/>
              <a:t>“새로 만들기 / 열기 / 저장 / 다른 이름으로 저장” 기능에서 텍스트 변경 여부 감지 로직이 정확하게 동작</a:t>
            </a:r>
            <a:endParaRPr lang="ko-KR" altLang="en-US" sz="1600"/>
          </a:p>
          <a:p>
            <a:pPr lvl="1">
              <a:defRPr/>
            </a:pPr>
            <a:r>
              <a:rPr lang="ko-KR" altLang="en-US" sz="1600"/>
              <a:t>찾기(Search) 기능(Form2)에서 대/소문자 구분, 검색 방향(위/아래) 설정, 다음 찾기 기능이 정상적으로 수행됨</a:t>
            </a:r>
            <a:endParaRPr lang="ko-KR" altLang="en-US" sz="1600"/>
          </a:p>
          <a:p>
            <a:pPr lvl="1">
              <a:defRPr/>
            </a:pPr>
            <a:r>
              <a:rPr lang="ko-KR" altLang="en-US" sz="1600"/>
              <a:t>파일을 저장하거나 열 때 StreamReader / StreamWriter 기반 입출력이 안정적으로 처리</a:t>
            </a:r>
            <a:endParaRPr lang="ko-KR" altLang="en-US" sz="1600"/>
          </a:p>
          <a:p>
            <a:pPr lvl="1">
              <a:defRPr/>
            </a:pPr>
            <a:r>
              <a:rPr lang="ko-KR" altLang="en-US" sz="1600"/>
              <a:t>기본 Windows 메모장 동작 구조를 직접 구현함으로써 텍스트 편집기 동작 원리를 이해함</a:t>
            </a:r>
            <a:endParaRPr lang="ko-KR" altLang="en-US" sz="1600"/>
          </a:p>
          <a:p>
            <a:pPr lvl="1">
              <a:defRPr/>
            </a:pPr>
            <a:endParaRPr lang="ko-KR" altLang="en-US" sz="1600"/>
          </a:p>
          <a:p>
            <a:pPr lvl="0">
              <a:defRPr/>
            </a:pPr>
            <a:r>
              <a:rPr lang="ko-KR" altLang="en-US"/>
              <a:t>학습 내용</a:t>
            </a:r>
            <a:endParaRPr lang="ko-KR" altLang="en-US"/>
          </a:p>
          <a:p>
            <a:pPr lvl="1">
              <a:defRPr/>
            </a:pPr>
            <a:r>
              <a:rPr lang="en-US" altLang="ko-KR" sz="1600"/>
              <a:t>StreamReader / StreamWriter 클래스를 활용하여 텍스트 파일을 읽고 쓰는 파일 입출력 프로세스 학습</a:t>
            </a:r>
            <a:endParaRPr lang="en-US" altLang="ko-KR" sz="1600"/>
          </a:p>
          <a:p>
            <a:pPr lvl="1">
              <a:defRPr/>
            </a:pPr>
            <a:r>
              <a:rPr lang="en-US" altLang="ko-KR" sz="1600"/>
              <a:t>TextChanged 이벤트 + 상태 변수(txtNoteChange) 를 통한 텍스트 변경 감지 로직 습득</a:t>
            </a:r>
            <a:endParaRPr lang="en-US" altLang="ko-KR" sz="1600"/>
          </a:p>
          <a:p>
            <a:pPr lvl="1">
              <a:defRPr/>
            </a:pPr>
            <a:r>
              <a:rPr lang="en-US" altLang="ko-KR" sz="1600"/>
              <a:t>Form1과 Form2 간의 데이터 전달 구조(Internal 접근자 사용, 이벤트 핸들링) 이해</a:t>
            </a:r>
            <a:endParaRPr lang="en-US" altLang="ko-KR" sz="1600"/>
          </a:p>
          <a:p>
            <a:pPr lvl="1">
              <a:defRPr/>
            </a:pPr>
            <a:r>
              <a:rPr lang="en-US" altLang="ko-KR" sz="1600"/>
              <a:t>FormClosing 이벤트에서 사용자 동작 흐름을 제어하는 방식(저장 여부 메시지 처리) 학습</a:t>
            </a:r>
            <a:endParaRPr lang="en-US" altLang="ko-KR" sz="1600"/>
          </a:p>
          <a:p>
            <a:pPr lvl="1">
              <a:defRPr/>
            </a:pPr>
            <a:r>
              <a:rPr lang="en-US" altLang="ko-KR" sz="1600"/>
              <a:t>실제 Windows 메모장과 유사한 편집 프로그램 구현 경험을 통해 도구형 WinForms 프로그램 제작 흐름 이해</a:t>
            </a:r>
            <a:endParaRPr lang="en-US" altLang="ko-KR" sz="1600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 결과 및 학습내용 정리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f9f1d3"/>
      </a:hlink>
      <a:folHlink>
        <a:srgbClr val="e2cdb0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479</ep:Words>
  <ep:PresentationFormat>와이드스크린</ep:PresentationFormat>
  <ep:Paragraphs>68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교차</vt:lpstr>
      <vt:lpstr>C#을 활용한  메모장 구현 프로젝트</vt:lpstr>
      <vt:lpstr>프로젝트 개요</vt:lpstr>
      <vt:lpstr>기본 개념 정리</vt:lpstr>
      <vt:lpstr>기능 설계, 콘텐츠 구성 및 개발 기술</vt:lpstr>
      <vt:lpstr>프로젝트 요구 사항</vt:lpstr>
      <vt:lpstr>프로젝트 요구 사항</vt:lpstr>
      <vt:lpstr>구현 코드 1</vt:lpstr>
      <vt:lpstr>구현 코드 2</vt:lpstr>
      <vt:lpstr>구현 코드 3</vt:lpstr>
      <vt:lpstr>실행화면 캡쳐</vt:lpstr>
      <vt:lpstr>결과 및 학습내용 정리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2025-09-16T01:26:43.000</dcterms:created>
  <dc:creator>YUHAN</dc:creator>
  <cp:lastModifiedBy>fidwns</cp:lastModifiedBy>
  <dcterms:modified xsi:type="dcterms:W3CDTF">2025-12-02T14:34:53.251</dcterms:modified>
  <cp:revision>46</cp:revision>
  <dc:title>C#을 활용한  모달과 모달리스 창 구현 프로젝트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